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media/showcase-vector-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/>
              <a:t>Column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Document</c:v>
                </c:pt>
              </c:strCache>
            </c:strRef>
          </c:tx>
          <c:spPr>
            <a:solidFill>
              <a:srgbClr val="2F75B5"/>
            </a:solidFill>
          </c:spP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57</c:v>
                </c:pt>
                <c:pt idx="2">
                  <c:v>66</c:v>
                </c:pt>
                <c:pt idx="3">
                  <c:v>81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Spreadsheet</c:v>
                </c:pt>
              </c:strCache>
            </c:strRef>
          </c:tx>
          <c:spPr>
            <a:solidFill>
              <a:srgbClr val="E76F51"/>
            </a:solidFill>
          </c:spP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35</c:v>
                </c:pt>
                <c:pt idx="1">
                  <c:v>49</c:v>
                </c:pt>
                <c:pt idx="2">
                  <c:v>61</c:v>
                </c:pt>
                <c:pt idx="3">
                  <c:v>72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/>
              <a:t>Line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Preview</c:v>
                </c:pt>
              </c:strCache>
            </c:strRef>
          </c:tx>
          <c:spPr>
            <a:solidFill>
              <a:srgbClr val="2F75B5"/>
            </a:solidFill>
          </c:spP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68</c:v>
                </c:pt>
                <c:pt idx="1">
                  <c:v>74</c:v>
                </c:pt>
                <c:pt idx="2">
                  <c:v>83</c:v>
                </c:pt>
                <c:pt idx="3">
                  <c:v>92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E76F51"/>
            </a:solidFill>
          </c:spP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72</c:v>
                </c:pt>
                <c:pt idx="1">
                  <c:v>78</c:v>
                </c:pt>
                <c:pt idx="2">
                  <c:v>85</c:v>
                </c:pt>
                <c:pt idx="3">
                  <c:v>94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400" b="1"/>
              <a:t>Pie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Coverage</c:v>
                </c:pt>
              </c:strCache>
            </c:strRef>
          </c:tx>
          <c:spPr>
            <a:solidFill>
              <a:srgbClr val="2F75B5"/>
            </a:solidFill>
          </c:spPr>
          <c:cat>
            <c:strRef>
              <c:f>Sheet1!$A$2:$A$5</c:f>
              <c:strCache>
                <c:ptCount val="4"/>
                <c:pt idx="0">
                  <c:v>Text</c:v>
                </c:pt>
                <c:pt idx="1">
                  <c:v>Draw</c:v>
                </c:pt>
                <c:pt idx="2">
                  <c:v>Data</c:v>
                </c:pt>
                <c:pt idx="3">
                  <c:v>Motion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</c:v>
                </c:pt>
                <c:pt idx="1">
                  <c:v>27</c:v>
                </c:pt>
                <c:pt idx="2">
                  <c:v>24</c:v>
                </c:pt>
                <c:pt idx="3">
                  <c:v>11</c:v>
                </c:pt>
              </c:numCache>
            </c:numRef>
          </c:val>
        </c:ser>
      </c:pieChart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P11 speaker notes: this text must remain in notesSlide resources and the editor notes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showcase-vector-2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ONLYOFFICE/DocumentServer" TargetMode="External"/><Relationship Id="rId3" Type="http://schemas.openxmlformats.org/officeDocument/2006/relationships/hyperlink" Target="mailto:preview@example.test" TargetMode="External"/><Relationship Id="rId4" Type="http://schemas.openxmlformats.org/officeDocument/2006/relationships/slide" Target="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0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9875520" cy="822960"/>
          </a:xfrm>
          <a:prstGeom prst="rect">
            <a:avLst/>
          </a:prstGeom>
          <a:noFill/>
        </p:spPr>
        <p:txBody>
          <a:bodyPr wrap="none" lIns="50800" rIns="50800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tos"/>
              </a:rPr>
              <a:t>Presentation Preview Showcase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9692640" cy="502920"/>
          </a:xfrm>
          <a:prstGeom prst="rect">
            <a:avLst/>
          </a:prstGeom>
          <a:noFill/>
        </p:spPr>
        <p:txBody>
          <a:bodyPr wrap="none" lIns="50800" rIns="50800" anchor="ctr">
            <a:spAutoFit/>
          </a:bodyPr>
          <a:lstStyle/>
          <a:p>
            <a:pPr algn="l"/>
            <a:r>
              <a:rPr sz="1500" b="0">
                <a:solidFill>
                  <a:srgbClr val="EAF3F8"/>
                </a:solidFill>
                <a:latin typeface="Aptos"/>
              </a:rPr>
              <a:t>Theme · masters · text · shapes · media · tables · charts · transitions</a:t>
            </a:r>
          </a:p>
        </p:txBody>
      </p:sp>
      <p:pic>
        <p:nvPicPr>
          <p:cNvPr id="5" name="P06 raster image with alt text" descr="P06 raster image with non-zero dimension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777240"/>
            <a:ext cx="1234440" cy="12344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77240" y="2880360"/>
            <a:ext cx="2286000" cy="1143000"/>
          </a:xfrm>
          <a:prstGeom prst="round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TEXT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2880360"/>
            <a:ext cx="2286000" cy="1143000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DRAW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2880360"/>
            <a:ext cx="2286000" cy="1143000"/>
          </a:xfrm>
          <a:prstGeom prst="roundRect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5360" y="2880360"/>
            <a:ext cx="2286000" cy="1143000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MOTION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989320"/>
            <a:ext cx="9144000" cy="274320"/>
          </a:xfrm>
          <a:prstGeom prst="rect">
            <a:avLst/>
          </a:prstGeom>
          <a:noFill/>
        </p:spPr>
        <p:txBody>
          <a:bodyPr wrap="none" lIns="50800" rIns="50800" anchor="ctr">
            <a:spAutoFit/>
          </a:bodyPr>
          <a:lstStyle/>
          <a:p>
            <a:pPr algn="l"/>
            <a:r>
              <a:rPr sz="1000" b="0">
                <a:solidFill>
                  <a:srgbClr val="EAF3F8"/>
                </a:solidFill>
                <a:latin typeface="Aptos"/>
              </a:rPr>
              <a:t>P01 · 16:9 slide geometry · deterministic theme palette · layout references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65392"/>
            <a:ext cx="6400800" cy="201168"/>
          </a:xfrm>
          <a:prstGeom prst="rect">
            <a:avLst/>
          </a:prstGeom>
          <a:noFill/>
        </p:spPr>
        <p:txBody>
          <a:bodyPr wrap="none" lIns="50800" rIns="50800" anchor="ctr">
            <a:spAutoFit/>
          </a:bodyPr>
          <a:lstStyle/>
          <a:p>
            <a:pPr algn="l"/>
            <a:r>
              <a:rPr sz="800" b="0">
                <a:solidFill>
                  <a:srgbClr val="607785"/>
                </a:solidFill>
                <a:latin typeface="Aptos"/>
              </a:rPr>
              <a:t>ONLYOFFICE · deterministic preview corpus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528816"/>
            <a:ext cx="457200" cy="228600"/>
          </a:xfrm>
          <a:prstGeom prst="rect">
            <a:avLst/>
          </a:prstGeom>
          <a:noFill/>
        </p:spPr>
        <p:txBody>
          <a:bodyPr wrap="none" lIns="50800" rIns="50800" anchor="ctr">
            <a:spAutoFit/>
          </a:bodyPr>
          <a:lstStyle/>
          <a:p>
            <a:pPr algn="r"/>
            <a:r>
              <a:rPr sz="900" b="1">
                <a:solidFill>
                  <a:srgbClr val="607785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881360" cy="502920"/>
          </a:xfrm>
          <a:prstGeom prst="rect">
            <a:avLst/>
          </a:prstGeom>
          <a:noFill/>
        </p:spPr>
        <p:txBody>
          <a:bodyPr wrap="none" lIns="50800" rIns="50800" anchor="ctr">
            <a:spAutoFit/>
          </a:bodyPr>
          <a:lstStyle/>
          <a:p>
            <a:pPr algn="l"/>
            <a:r>
              <a:rPr sz="2500" b="1">
                <a:solidFill>
                  <a:srgbClr val="12304A"/>
                </a:solidFill>
                <a:latin typeface="Aptos"/>
              </a:rPr>
              <a:t>Text hierarchy and list semantics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49808"/>
            <a:ext cx="10698480" cy="274320"/>
          </a:xfrm>
          <a:prstGeom prst="rect">
            <a:avLst/>
          </a:prstGeom>
          <a:noFill/>
        </p:spPr>
        <p:txBody>
          <a:bodyPr wrap="none" lIns="50800" rIns="50800" anchor="ctr">
            <a:spAutoFit/>
          </a:bodyPr>
          <a:lstStyle/>
          <a:p>
            <a:pPr algn="l"/>
            <a:r>
              <a:rPr sz="900" b="1">
                <a:solidFill>
                  <a:srgbClr val="E76F51"/>
                </a:solidFill>
                <a:latin typeface="Aptos"/>
              </a:rPr>
              <a:t>P02/P03 · distinct text runs, paragraph levels, bullets and numbering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33271"/>
            <a:ext cx="10744200" cy="36576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12304A"/>
                </a:solidFill>
              </a:rPr>
              <a:t>Rich run formatting</a:t>
            </a:r>
          </a:p>
          <a:p>
            <a:r>
              <a:rPr sz="1800" b="1">
                <a:solidFill>
                  <a:srgbClr val="12304A"/>
                </a:solidFill>
                <a:latin typeface="Aptos"/>
              </a:rPr>
              <a:t>Bold</a:t>
            </a:r>
            <a:r>
              <a:rPr sz="1800" i="1">
                <a:solidFill>
                  <a:srgbClr val="12304A"/>
                </a:solidFill>
                <a:latin typeface="Aptos"/>
              </a:rPr>
              <a:t> · italic</a:t>
            </a:r>
            <a:r>
              <a:rPr sz="1800" u="sng">
                <a:solidFill>
                  <a:srgbClr val="12304A"/>
                </a:solidFill>
                <a:latin typeface="Aptos"/>
              </a:rPr>
              <a:t> · underline</a:t>
            </a:r>
            <a:r>
              <a:rPr sz="1800">
                <a:solidFill>
                  <a:srgbClr val="E76F51"/>
                </a:solidFill>
                <a:latin typeface="Aptos"/>
              </a:rPr>
              <a:t> · coral</a:t>
            </a:r>
          </a:p>
          <a:p>
            <a:pPr>
              <a:defRPr sz="1700">
                <a:solidFill>
                  <a:srgbClr val="12304A"/>
                </a:solidFill>
              </a:defRPr>
            </a:pPr>
            <a:r>
              <a:t>Primary bullet</a:t>
            </a:r>
          </a:p>
          <a:p>
            <a:pPr lvl="1">
              <a:defRPr sz="1700">
                <a:solidFill>
                  <a:srgbClr val="12304A"/>
                </a:solidFill>
              </a:defRPr>
            </a:pPr>
            <a:r>
              <a:t>Nested supporting point</a:t>
            </a:r>
          </a:p>
          <a:p>
            <a:pPr lvl="1">
              <a:defRPr sz="1700">
                <a:solidFill>
                  <a:srgbClr val="12304A"/>
                </a:solidFill>
              </a:defRPr>
            </a:pPr>
            <a:r>
              <a:t>Nested verification marker</a:t>
            </a:r>
          </a:p>
          <a:p>
            <a:pPr>
              <a:defRPr sz="1700">
                <a:solidFill>
                  <a:srgbClr val="12304A"/>
                </a:solidFill>
              </a:defRPr>
            </a:pPr>
            <a:r>
              <a:t>Second primary bullet</a:t>
            </a:r>
          </a:p>
        </p:txBody>
      </p:sp>
      <p:sp>
        <p:nvSpPr>
          <p:cNvPr id="6" name="P02 multilingual text"/>
          <p:cNvSpPr txBox="1"/>
          <p:nvPr/>
        </p:nvSpPr>
        <p:spPr>
          <a:xfrm>
            <a:off x="6400800" y="1508760"/>
            <a:ext cx="4754880" cy="1097280"/>
          </a:xfrm>
          <a:prstGeom prst="rect">
            <a:avLst/>
          </a:prstGeom>
          <a:noFill/>
        </p:spPr>
        <p:txBody>
          <a:bodyPr wrap="none" lIns="50800" rIns="50800" anchor="ctr">
            <a:spAutoFit/>
          </a:bodyPr>
          <a:lstStyle/>
          <a:p>
            <a:pPr algn="r"/>
            <a:r>
              <a:rPr sz="2000" b="0">
                <a:solidFill>
                  <a:srgbClr val="12304A"/>
                </a:solidFill>
                <a:latin typeface="Aptos"/>
              </a:rPr>
              <a:t>简体中文 · 日本語
العربية · עברית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926080"/>
            <a:ext cx="4754880" cy="1371600"/>
          </a:xfrm>
          <a:prstGeom prst="roundRect">
            <a:avLst/>
          </a:prstGeom>
          <a:solidFill>
            <a:srgbClr val="EAF3F8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12304A"/>
                </a:solidFill>
              </a:defRPr>
            </a:pPr>
            <a:r>
              <a:t>Text remains editable, searchable and selectable after browser conversion.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65392"/>
            <a:ext cx="6400800" cy="201168"/>
          </a:xfrm>
          <a:prstGeom prst="rect">
            <a:avLst/>
          </a:prstGeom>
          <a:noFill/>
        </p:spPr>
        <p:txBody>
          <a:bodyPr wrap="none" lIns="50800" rIns="50800" anchor="ctr">
            <a:spAutoFit/>
          </a:bodyPr>
          <a:lstStyle/>
          <a:p>
            <a:pPr algn="l"/>
            <a:r>
              <a:rPr sz="800" b="0">
                <a:solidFill>
                  <a:srgbClr val="607785"/>
                </a:solidFill>
                <a:latin typeface="Aptos"/>
              </a:rPr>
              <a:t>ONLYOFFICE · deterministic preview corpus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528816"/>
            <a:ext cx="457200" cy="228600"/>
          </a:xfrm>
          <a:prstGeom prst="rect">
            <a:avLst/>
          </a:prstGeom>
          <a:noFill/>
        </p:spPr>
        <p:txBody>
          <a:bodyPr wrap="none" lIns="50800" rIns="50800" anchor="ctr">
            <a:spAutoFit/>
          </a:bodyPr>
          <a:lstStyle/>
          <a:p>
            <a:pPr algn="r"/>
            <a:r>
              <a:rPr sz="900" b="1">
                <a:solidFill>
                  <a:srgbClr val="607785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881360" cy="502920"/>
          </a:xfrm>
          <a:prstGeom prst="rect">
            <a:avLst/>
          </a:prstGeom>
          <a:noFill/>
        </p:spPr>
        <p:txBody>
          <a:bodyPr wrap="none" lIns="50800" rIns="50800" anchor="ctr">
            <a:spAutoFit/>
          </a:bodyPr>
          <a:lstStyle/>
          <a:p>
            <a:pPr algn="l"/>
            <a:r>
              <a:rPr sz="2500" b="1">
                <a:solidFill>
                  <a:srgbClr val="12304A"/>
                </a:solidFill>
                <a:latin typeface="Aptos"/>
              </a:rPr>
              <a:t>Shapes, fills, connectors and grouping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49808"/>
            <a:ext cx="10698480" cy="274320"/>
          </a:xfrm>
          <a:prstGeom prst="rect">
            <a:avLst/>
          </a:prstGeom>
          <a:noFill/>
        </p:spPr>
        <p:txBody>
          <a:bodyPr wrap="none" lIns="50800" rIns="50800" anchor="ctr">
            <a:spAutoFit/>
          </a:bodyPr>
          <a:lstStyle/>
          <a:p>
            <a:pPr algn="l"/>
            <a:r>
              <a:rPr sz="900" b="1">
                <a:solidFill>
                  <a:srgbClr val="E76F51"/>
                </a:solidFill>
                <a:latin typeface="Aptos"/>
              </a:rPr>
              <a:t>P04/P05 · gradient, outline, shadow, connector endpoints, z-order and group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33271"/>
            <a:ext cx="10744200" cy="36576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5" name="P05 grouped process"/>
          <p:cNvGrpSpPr/>
          <p:nvPr/>
        </p:nvGrpSpPr>
        <p:grpSpPr>
          <a:xfrm>
            <a:off x="822960" y="1463040"/>
            <a:ext cx="8229600" cy="1280160"/>
            <a:chOff x="0" y="0"/>
            <a:chExt cx="7863840" cy="914400"/>
          </a:xfrm>
        </p:grpSpPr>
        <p:sp>
          <p:nvSpPr>
            <p:cNvPr id="6" name="Rounded Rectangle 5"/>
            <p:cNvSpPr/>
            <p:nvPr/>
          </p:nvSpPr>
          <p:spPr>
            <a:xfrm>
              <a:off x="0" y="0"/>
              <a:ext cx="1691640" cy="914400"/>
            </a:xfrm>
            <a:prstGeom prst="roundRect">
              <a:avLst/>
            </a:prstGeom>
            <a:solidFill>
              <a:srgbClr val="2F75B5"/>
            </a:solidFill>
            <a:ln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b="1">
                  <a:solidFill>
                    <a:srgbClr val="FFFFFF"/>
                  </a:solidFill>
                </a:defRPr>
              </a:pPr>
              <a:r>
                <a:t>SOURCE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057400" y="0"/>
              <a:ext cx="1691640" cy="914400"/>
            </a:xfrm>
            <a:prstGeom prst="roundRect">
              <a:avLst/>
            </a:prstGeom>
            <a:solidFill>
              <a:srgbClr val="00A6A6"/>
            </a:solidFill>
            <a:ln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b="1">
                  <a:solidFill>
                    <a:srgbClr val="FFFFFF"/>
                  </a:solidFill>
                </a:defRPr>
              </a:pPr>
              <a:r>
                <a:t>CONVERT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114800" y="0"/>
              <a:ext cx="1691640" cy="914400"/>
            </a:xfrm>
            <a:prstGeom prst="roundRect">
              <a:avLst/>
            </a:prstGeom>
            <a:solidFill>
              <a:srgbClr val="F2B134"/>
            </a:solidFill>
            <a:ln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b="1">
                  <a:solidFill>
                    <a:srgbClr val="FFFFFF"/>
                  </a:solidFill>
                </a:defRPr>
              </a:pPr>
              <a:r>
                <a:t>MODEL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172200" y="0"/>
              <a:ext cx="1691640" cy="914400"/>
            </a:xfrm>
            <a:prstGeom prst="roundRect">
              <a:avLst/>
            </a:prstGeom>
            <a:solidFill>
              <a:srgbClr val="E76F51"/>
            </a:solidFill>
            <a:ln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b="1">
                  <a:solidFill>
                    <a:srgbClr val="FFFFFF"/>
                  </a:solidFill>
                </a:defRPr>
              </a:pPr>
              <a:r>
                <a:t>VERIFY</a:t>
              </a:r>
            </a:p>
          </p:txBody>
        </p:sp>
      </p:grpSp>
      <p:cxnSp>
        <p:nvCxnSpPr>
          <p:cNvPr id="10" name="Connector 9"/>
          <p:cNvCxnSpPr/>
          <p:nvPr/>
        </p:nvCxnSpPr>
        <p:spPr>
          <a:xfrm>
            <a:off x="2514600" y="2103120"/>
            <a:ext cx="274320" cy="0"/>
          </a:xfrm>
          <a:prstGeom prst="line">
            <a:avLst/>
          </a:prstGeom>
          <a:ln w="28575">
            <a:solidFill>
              <a:srgbClr val="12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72000" y="2103120"/>
            <a:ext cx="274320" cy="0"/>
          </a:xfrm>
          <a:prstGeom prst="line">
            <a:avLst/>
          </a:prstGeom>
          <a:ln w="28575">
            <a:solidFill>
              <a:srgbClr val="12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629400" y="2103120"/>
            <a:ext cx="274320" cy="0"/>
          </a:xfrm>
          <a:prstGeom prst="line">
            <a:avLst/>
          </a:prstGeom>
          <a:ln w="28575">
            <a:solidFill>
              <a:srgbClr val="12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Hexagon 12"/>
          <p:cNvSpPr/>
          <p:nvPr/>
        </p:nvSpPr>
        <p:spPr>
          <a:xfrm>
            <a:off x="914400" y="3246120"/>
            <a:ext cx="2834640" cy="1508760"/>
          </a:xfrm>
          <a:gradFill rotWithShape="1">
            <a:gsLst>
              <a:gs pos="0">
                <a:srgbClr val="2F75B5"/>
              </a:gs>
              <a:gs pos="100000">
                <a:srgbClr val="00A6A6"/>
              </a:gs>
            </a:gsLst>
            <a:lin ang="2700000" scaled="1"/>
          </a:gradFill>
          <a:prstGeom prst="hexagon">
            <a:avLst/>
          </a:prstGeom>
          <a:ln>
            <a:solidFill>
              <a:srgbClr val="12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12304A"/>
                </a:solidFill>
              </a:defRPr>
            </a:pPr>
            <a:r>
              <a:t>GRADIENT</a:t>
            </a:r>
          </a:p>
        </p:txBody>
      </p:sp>
      <p:sp>
        <p:nvSpPr>
          <p:cNvPr id="14" name="Chevron 13"/>
          <p:cNvSpPr/>
          <p:nvPr/>
        </p:nvSpPr>
        <p:spPr>
          <a:xfrm>
            <a:off x="4572000" y="3246120"/>
            <a:ext cx="2834640" cy="1508760"/>
          </a:xfrm>
          <a:gradFill rotWithShape="1">
            <a:gsLst>
              <a:gs pos="0">
                <a:srgbClr val="F2B134"/>
              </a:gs>
              <a:gs pos="100000">
                <a:srgbClr val="E76F51"/>
              </a:gs>
            </a:gsLst>
            <a:lin ang="2700000" scaled="1"/>
          </a:gradFill>
          <a:prstGeom prst="chevron">
            <a:avLst/>
          </a:prstGeom>
          <a:ln>
            <a:solidFill>
              <a:srgbClr val="12304A"/>
            </a:solidFill>
          </a:ln>
          <a:effectLst>
            <a:outerShdw blurRad="50800" dist="38100" dir="2700000" algn="ctr" rotWithShape="0">
              <a:srgbClr val="12304A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12304A"/>
                </a:solidFill>
              </a:defRPr>
            </a:pPr>
            <a:r>
              <a:t>SHADOW</a:t>
            </a:r>
          </a:p>
        </p:txBody>
      </p:sp>
      <p:sp>
        <p:nvSpPr>
          <p:cNvPr id="15" name="Cloud 14"/>
          <p:cNvSpPr/>
          <p:nvPr/>
        </p:nvSpPr>
        <p:spPr>
          <a:xfrm>
            <a:off x="8229600" y="3246120"/>
            <a:ext cx="2834640" cy="1508760"/>
          </a:xfrm>
          <a:gradFill rotWithShape="1">
            <a:gsLst>
              <a:gs pos="0">
                <a:srgbClr val="EAF3F8"/>
              </a:gs>
              <a:gs pos="100000">
                <a:srgbClr val="EAF3F8"/>
              </a:gs>
            </a:gsLst>
            <a:lin ang="2700000" scaled="1"/>
          </a:gradFill>
          <a:prstGeom prst="cloud">
            <a:avLst/>
          </a:prstGeom>
          <a:ln>
            <a:solidFill>
              <a:srgbClr val="12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12304A"/>
                </a:solidFill>
              </a:defRPr>
            </a:pPr>
            <a:r>
              <a:t>OUTLINE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65392"/>
            <a:ext cx="6400800" cy="201168"/>
          </a:xfrm>
          <a:prstGeom prst="rect">
            <a:avLst/>
          </a:prstGeom>
          <a:noFill/>
        </p:spPr>
        <p:txBody>
          <a:bodyPr wrap="none" lIns="50800" rIns="50800" anchor="ctr">
            <a:spAutoFit/>
          </a:bodyPr>
          <a:lstStyle/>
          <a:p>
            <a:pPr algn="l"/>
            <a:r>
              <a:rPr sz="800" b="0">
                <a:solidFill>
                  <a:srgbClr val="607785"/>
                </a:solidFill>
                <a:latin typeface="Aptos"/>
              </a:rPr>
              <a:t>ONLYOFFICE · deterministic preview corpus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528816"/>
            <a:ext cx="457200" cy="228600"/>
          </a:xfrm>
          <a:prstGeom prst="rect">
            <a:avLst/>
          </a:prstGeom>
          <a:noFill/>
        </p:spPr>
        <p:txBody>
          <a:bodyPr wrap="none" lIns="50800" rIns="50800" anchor="ctr">
            <a:spAutoFit/>
          </a:bodyPr>
          <a:lstStyle/>
          <a:p>
            <a:pPr algn="r"/>
            <a:r>
              <a:rPr sz="900" b="1">
                <a:solidFill>
                  <a:srgbClr val="607785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  <p:transition spd="med">
    <p:wip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881360" cy="502920"/>
          </a:xfrm>
          <a:prstGeom prst="rect">
            <a:avLst/>
          </a:prstGeom>
          <a:noFill/>
        </p:spPr>
        <p:txBody>
          <a:bodyPr wrap="none" lIns="50800" rIns="50800" anchor="ctr">
            <a:spAutoFit/>
          </a:bodyPr>
          <a:lstStyle/>
          <a:p>
            <a:pPr algn="l"/>
            <a:r>
              <a:rPr sz="2500" b="1">
                <a:solidFill>
                  <a:srgbClr val="12304A"/>
                </a:solidFill>
                <a:latin typeface="Aptos"/>
              </a:rPr>
              <a:t>Raster and vector media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49808"/>
            <a:ext cx="10698480" cy="274320"/>
          </a:xfrm>
          <a:prstGeom prst="rect">
            <a:avLst/>
          </a:prstGeom>
          <a:noFill/>
        </p:spPr>
        <p:txBody>
          <a:bodyPr wrap="none" lIns="50800" rIns="50800" anchor="ctr">
            <a:spAutoFit/>
          </a:bodyPr>
          <a:lstStyle/>
          <a:p>
            <a:pPr algn="l"/>
            <a:r>
              <a:rPr sz="900" b="1">
                <a:solidFill>
                  <a:srgbClr val="E76F51"/>
                </a:solidFill>
                <a:latin typeface="Aptos"/>
              </a:rPr>
              <a:t>P06 · decoded picture resources, crop geometry and alternative 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33271"/>
            <a:ext cx="10744200" cy="36576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06 primary raster" descr="P06 primary raster alternative tex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71600"/>
            <a:ext cx="2743200" cy="2743200"/>
          </a:xfrm>
          <a:prstGeom prst="rect">
            <a:avLst/>
          </a:prstGeom>
        </p:spPr>
      </p:pic>
      <p:pic>
        <p:nvPicPr>
          <p:cNvPr id="6" name="P06 cropped raster" descr="P06 cropped raster alternative text"/>
          <p:cNvPicPr>
            <a:picLocks noChangeAspect="1"/>
          </p:cNvPicPr>
          <p:nvPr/>
        </p:nvPicPr>
        <p:blipFill>
          <a:blip r:embed="rId2"/>
          <a:srcRect l="12000" r="12000" t="12000" b="12000"/>
          <a:stretch>
            <a:fillRect/>
          </a:stretch>
        </p:blipFill>
        <p:spPr>
          <a:xfrm>
            <a:off x="4297680" y="1371600"/>
            <a:ext cx="2743200" cy="2743200"/>
          </a:xfrm>
          <a:prstGeom prst="rect">
            <a:avLst/>
          </a:prstGeom>
        </p:spPr>
      </p:pic>
      <p:pic>
        <p:nvPicPr>
          <p:cNvPr id="606" name="P06 SVG vector" descr="P06 SVG vector with non-zero dimensions"/>
          <p:cNvPicPr/>
          <p:nvPr/>
        </p:nvPicPr>
        <p:blipFill>
          <a:blip r:embed="rId3"/>
          <a:stretch>
            <a:fillRect/>
          </a:stretch>
        </p:blipFill>
        <p:spPr>
          <a:xfrm>
            <a:off x="7818120" y="1417320"/>
            <a:ext cx="3017520" cy="2011680"/>
          </a:xfrm>
          <a:prstGeom prst="rect">
            <a:avLst/>
          </a:prstGeom>
        </p:spPr>
      </p:pic>
      <p:sp>
        <p:nvSpPr>
          <p:cNvPr id="607" name="TextBox 606"/>
          <p:cNvSpPr txBox="1"/>
          <p:nvPr/>
        </p:nvSpPr>
        <p:spPr>
          <a:xfrm>
            <a:off x="7406640" y="3794760"/>
            <a:ext cx="3657600" cy="731520"/>
          </a:xfrm>
          <a:prstGeom prst="rect">
            <a:avLst/>
          </a:prstGeom>
          <a:noFill/>
        </p:spPr>
        <p:txBody>
          <a:bodyPr wrap="none" lIns="50800" rIns="50800" anchor="ctr">
            <a:spAutoFit/>
          </a:bodyPr>
          <a:lstStyle/>
          <a:p>
            <a:pPr algn="ctr"/>
            <a:r>
              <a:rPr sz="1700" b="1">
                <a:solidFill>
                  <a:srgbClr val="12304A"/>
                </a:solidFill>
                <a:latin typeface="Aptos"/>
              </a:rPr>
              <a:t>P06 SVG resource
remains resolution-independent</a:t>
            </a:r>
          </a:p>
        </p:txBody>
      </p:sp>
      <p:sp>
        <p:nvSpPr>
          <p:cNvPr id="608" name="TextBox 607"/>
          <p:cNvSpPr txBox="1"/>
          <p:nvPr/>
        </p:nvSpPr>
        <p:spPr>
          <a:xfrm>
            <a:off x="594360" y="6565392"/>
            <a:ext cx="6400800" cy="201168"/>
          </a:xfrm>
          <a:prstGeom prst="rect">
            <a:avLst/>
          </a:prstGeom>
          <a:noFill/>
        </p:spPr>
        <p:txBody>
          <a:bodyPr wrap="none" lIns="50800" rIns="50800" anchor="ctr">
            <a:spAutoFit/>
          </a:bodyPr>
          <a:lstStyle/>
          <a:p>
            <a:pPr algn="l"/>
            <a:r>
              <a:rPr sz="800" b="0">
                <a:solidFill>
                  <a:srgbClr val="607785"/>
                </a:solidFill>
                <a:latin typeface="Aptos"/>
              </a:rPr>
              <a:t>ONLYOFFICE · deterministic preview corpus</a:t>
            </a:r>
          </a:p>
        </p:txBody>
      </p:sp>
      <p:sp>
        <p:nvSpPr>
          <p:cNvPr id="609" name="TextBox 608"/>
          <p:cNvSpPr txBox="1"/>
          <p:nvPr/>
        </p:nvSpPr>
        <p:spPr>
          <a:xfrm>
            <a:off x="10881360" y="6528816"/>
            <a:ext cx="457200" cy="228600"/>
          </a:xfrm>
          <a:prstGeom prst="rect">
            <a:avLst/>
          </a:prstGeom>
          <a:noFill/>
        </p:spPr>
        <p:txBody>
          <a:bodyPr wrap="none" lIns="50800" rIns="50800" anchor="ctr">
            <a:spAutoFit/>
          </a:bodyPr>
          <a:lstStyle/>
          <a:p>
            <a:pPr algn="r"/>
            <a:r>
              <a:rPr sz="900" b="1">
                <a:solidFill>
                  <a:srgbClr val="607785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881360" cy="502920"/>
          </a:xfrm>
          <a:prstGeom prst="rect">
            <a:avLst/>
          </a:prstGeom>
          <a:noFill/>
        </p:spPr>
        <p:txBody>
          <a:bodyPr wrap="none" lIns="50800" rIns="50800" anchor="ctr">
            <a:spAutoFit/>
          </a:bodyPr>
          <a:lstStyle/>
          <a:p>
            <a:pPr algn="l"/>
            <a:r>
              <a:rPr sz="2500" b="1">
                <a:solidFill>
                  <a:srgbClr val="12304A"/>
                </a:solidFill>
                <a:latin typeface="Aptos"/>
              </a:rPr>
              <a:t>Table grid, merge and cell styling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49808"/>
            <a:ext cx="10698480" cy="274320"/>
          </a:xfrm>
          <a:prstGeom prst="rect">
            <a:avLst/>
          </a:prstGeom>
          <a:noFill/>
        </p:spPr>
        <p:txBody>
          <a:bodyPr wrap="none" lIns="50800" rIns="50800" anchor="ctr">
            <a:spAutoFit/>
          </a:bodyPr>
          <a:lstStyle/>
          <a:p>
            <a:pPr algn="l"/>
            <a:r>
              <a:rPr sz="900" b="1">
                <a:solidFill>
                  <a:srgbClr val="E76F51"/>
                </a:solidFill>
                <a:latin typeface="Aptos"/>
              </a:rPr>
              <a:t>P07 · 4×4 table, merged region, header fill, borders and alignment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33271"/>
            <a:ext cx="10744200" cy="36576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325880"/>
          <a:ext cx="10652760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3190"/>
                <a:gridCol w="2663190"/>
                <a:gridCol w="2663190"/>
                <a:gridCol w="2663190"/>
              </a:tblGrid>
              <a:tr h="78867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Marker</a:t>
                      </a:r>
                    </a:p>
                  </a:txBody>
                  <a:tcPr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Element</a:t>
                      </a:r>
                    </a:p>
                  </a:txBody>
                  <a:tcPr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Expected model</a:t>
                      </a:r>
                    </a:p>
                  </a:txBody>
                  <a:tcPr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12304A"/>
                    </a:solidFill>
                  </a:tcPr>
                </a:tc>
              </a:tr>
              <a:tr h="78867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2304A"/>
                          </a:solidFill>
                        </a:defRPr>
                      </a:pPr>
                      <a:r>
                        <a:t>P07-A</a:t>
                      </a:r>
                    </a:p>
                  </a:txBody>
                  <a:tcPr anchor="ctr"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2304A"/>
                          </a:solidFill>
                        </a:defRPr>
                      </a:pPr>
                      <a:r>
                        <a:t>Header row</a:t>
                      </a:r>
                    </a:p>
                  </a:txBody>
                  <a:tcPr anchor="ctr"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2304A"/>
                          </a:solidFill>
                        </a:defRPr>
                      </a:pPr>
                      <a:r>
                        <a:t>fill + bold</a:t>
                      </a:r>
                    </a:p>
                  </a:txBody>
                  <a:tcPr anchor="ctr"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2304A"/>
                          </a:solidFill>
                        </a:defRPr>
                      </a:pPr>
                      <a:r>
                        <a:t>READY</a:t>
                      </a:r>
                    </a:p>
                  </a:txBody>
                  <a:tcPr anchor="ctr">
                    <a:solidFill>
                      <a:srgbClr val="EAF3F8"/>
                    </a:solidFill>
                  </a:tcPr>
                </a:tc>
              </a:tr>
              <a:tr h="78867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2304A"/>
                          </a:solidFill>
                        </a:defRPr>
                      </a:pPr>
                      <a:r>
                        <a:t>P07-B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t>P07-B merged across two cells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2304A"/>
                          </a:solidFill>
                        </a:defRPr>
                      </a:pPr>
                      <a:r>
                        <a:t>READY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8867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2304A"/>
                          </a:solidFill>
                        </a:defRPr>
                      </a:pPr>
                      <a:r>
                        <a:t>P07-C</a:t>
                      </a:r>
                    </a:p>
                  </a:txBody>
                  <a:tcPr anchor="ctr"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2304A"/>
                          </a:solidFill>
                        </a:defRPr>
                      </a:pPr>
                      <a:r>
                        <a:t>Cell alignment</a:t>
                      </a:r>
                    </a:p>
                  </a:txBody>
                  <a:tcPr anchor="ctr"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2304A"/>
                          </a:solidFill>
                        </a:defRPr>
                      </a:pPr>
                      <a:r>
                        <a:t>center/middle</a:t>
                      </a:r>
                    </a:p>
                  </a:txBody>
                  <a:tcPr anchor="ctr"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2304A"/>
                          </a:solidFill>
                        </a:defRPr>
                      </a:pPr>
                      <a:r>
                        <a:t>READY</a:t>
                      </a:r>
                    </a:p>
                  </a:txBody>
                  <a:tcPr anchor="ctr">
                    <a:solidFill>
                      <a:srgbClr val="EAF3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6565392"/>
            <a:ext cx="6400800" cy="201168"/>
          </a:xfrm>
          <a:prstGeom prst="rect">
            <a:avLst/>
          </a:prstGeom>
          <a:noFill/>
        </p:spPr>
        <p:txBody>
          <a:bodyPr wrap="none" lIns="50800" rIns="50800" anchor="ctr">
            <a:spAutoFit/>
          </a:bodyPr>
          <a:lstStyle/>
          <a:p>
            <a:pPr algn="l"/>
            <a:r>
              <a:rPr sz="800" b="0">
                <a:solidFill>
                  <a:srgbClr val="607785"/>
                </a:solidFill>
                <a:latin typeface="Aptos"/>
              </a:rPr>
              <a:t>ONLYOFFICE · deterministic preview corpus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28816"/>
            <a:ext cx="457200" cy="228600"/>
          </a:xfrm>
          <a:prstGeom prst="rect">
            <a:avLst/>
          </a:prstGeom>
          <a:noFill/>
        </p:spPr>
        <p:txBody>
          <a:bodyPr wrap="none" lIns="50800" rIns="50800" anchor="ctr">
            <a:spAutoFit/>
          </a:bodyPr>
          <a:lstStyle/>
          <a:p>
            <a:pPr algn="r"/>
            <a:r>
              <a:rPr sz="900" b="1">
                <a:solidFill>
                  <a:srgbClr val="607785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  <p:transition spd="med">
    <p:cover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881360" cy="502920"/>
          </a:xfrm>
          <a:prstGeom prst="rect">
            <a:avLst/>
          </a:prstGeom>
          <a:noFill/>
        </p:spPr>
        <p:txBody>
          <a:bodyPr wrap="none" lIns="50800" rIns="50800" anchor="ctr">
            <a:spAutoFit/>
          </a:bodyPr>
          <a:lstStyle/>
          <a:p>
            <a:pPr algn="l"/>
            <a:r>
              <a:rPr sz="2500" b="1">
                <a:solidFill>
                  <a:srgbClr val="12304A"/>
                </a:solidFill>
                <a:latin typeface="Aptos"/>
              </a:rPr>
              <a:t>Native chart objects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49808"/>
            <a:ext cx="10698480" cy="274320"/>
          </a:xfrm>
          <a:prstGeom prst="rect">
            <a:avLst/>
          </a:prstGeom>
          <a:noFill/>
        </p:spPr>
        <p:txBody>
          <a:bodyPr wrap="none" lIns="50800" rIns="50800" anchor="ctr">
            <a:spAutoFit/>
          </a:bodyPr>
          <a:lstStyle/>
          <a:p>
            <a:pPr algn="l"/>
            <a:r>
              <a:rPr sz="900" b="1">
                <a:solidFill>
                  <a:srgbClr val="E76F51"/>
                </a:solidFill>
                <a:latin typeface="Aptos"/>
              </a:rPr>
              <a:t>P08 · column, line and pie chart types with multiple colored series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33271"/>
            <a:ext cx="10744200" cy="36576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02920" y="1280160"/>
          <a:ext cx="3749039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251960" y="1280160"/>
          <a:ext cx="3749039" cy="44805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001000" y="1280160"/>
          <a:ext cx="3657600" cy="448056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" y="6565392"/>
            <a:ext cx="6400800" cy="201168"/>
          </a:xfrm>
          <a:prstGeom prst="rect">
            <a:avLst/>
          </a:prstGeom>
          <a:noFill/>
        </p:spPr>
        <p:txBody>
          <a:bodyPr wrap="none" lIns="50800" rIns="50800" anchor="ctr">
            <a:spAutoFit/>
          </a:bodyPr>
          <a:lstStyle/>
          <a:p>
            <a:pPr algn="l"/>
            <a:r>
              <a:rPr sz="800" b="0">
                <a:solidFill>
                  <a:srgbClr val="607785"/>
                </a:solidFill>
                <a:latin typeface="Aptos"/>
              </a:rPr>
              <a:t>ONLYOFFICE · deterministic preview corpus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528816"/>
            <a:ext cx="457200" cy="228600"/>
          </a:xfrm>
          <a:prstGeom prst="rect">
            <a:avLst/>
          </a:prstGeom>
          <a:noFill/>
        </p:spPr>
        <p:txBody>
          <a:bodyPr wrap="none" lIns="50800" rIns="50800" anchor="ctr">
            <a:spAutoFit/>
          </a:bodyPr>
          <a:lstStyle/>
          <a:p>
            <a:pPr algn="r"/>
            <a:r>
              <a:rPr sz="900" b="1">
                <a:solidFill>
                  <a:srgbClr val="607785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881360" cy="502920"/>
          </a:xfrm>
          <a:prstGeom prst="rect">
            <a:avLst/>
          </a:prstGeom>
          <a:noFill/>
        </p:spPr>
        <p:txBody>
          <a:bodyPr wrap="none" lIns="50800" rIns="50800" anchor="ctr">
            <a:spAutoFit/>
          </a:bodyPr>
          <a:lstStyle/>
          <a:p>
            <a:pPr algn="l"/>
            <a:r>
              <a:rPr sz="2500" b="1">
                <a:solidFill>
                  <a:srgbClr val="12304A"/>
                </a:solidFill>
                <a:latin typeface="Aptos"/>
              </a:rPr>
              <a:t>Links, symbols and equation 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49808"/>
            <a:ext cx="10698480" cy="274320"/>
          </a:xfrm>
          <a:prstGeom prst="rect">
            <a:avLst/>
          </a:prstGeom>
          <a:noFill/>
        </p:spPr>
        <p:txBody>
          <a:bodyPr wrap="none" lIns="50800" rIns="50800" anchor="ctr">
            <a:spAutoFit/>
          </a:bodyPr>
          <a:lstStyle/>
          <a:p>
            <a:pPr algn="l"/>
            <a:r>
              <a:rPr sz="900" b="1">
                <a:solidFill>
                  <a:srgbClr val="E76F51"/>
                </a:solidFill>
                <a:latin typeface="Aptos"/>
              </a:rPr>
              <a:t>P09/P10 · equation marker, URL, mailto and internal slide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33271"/>
            <a:ext cx="10744200" cy="36576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241280" cy="1097280"/>
          </a:xfrm>
          <a:prstGeom prst="rect">
            <a:avLst/>
          </a:prstGeom>
          <a:noFill/>
        </p:spPr>
        <p:txBody>
          <a:bodyPr wrap="none" lIns="50800" rIns="50800" anchor="ctr">
            <a:spAutoFit/>
          </a:bodyPr>
          <a:lstStyle/>
          <a:p>
            <a:pPr algn="ctr"/>
            <a:r>
              <a:rPr sz="3000" b="1">
                <a:solidFill>
                  <a:srgbClr val="12304A"/>
                </a:solidFill>
                <a:latin typeface="Aptos"/>
              </a:rPr>
              <a:t>E = mc²     ∫₀¹ x² dx = ⅓     Ω · ∑ · 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4572000" cy="548640"/>
          </a:xfrm>
          <a:prstGeom prst="rect">
            <a:avLst/>
          </a:prstGeom>
          <a:noFill/>
        </p:spPr>
        <p:txBody>
          <a:bodyPr wrap="none" lIns="50800" rIns="50800" anchor="ctr">
            <a:spAutoFit/>
          </a:bodyPr>
          <a:lstStyle/>
          <a:p>
            <a:pPr algn="l"/>
            <a:r>
              <a:rPr sz="1900" b="1">
                <a:solidFill>
                  <a:srgbClr val="2F75B5"/>
                </a:solidFill>
                <a:latin typeface="Aptos"/>
                <a:hlinkClick r:id="rId2"/>
              </a:rPr>
              <a:t>ONLYOFFICE DocumentServer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749039"/>
            <a:ext cx="4572000" cy="548640"/>
          </a:xfrm>
          <a:prstGeom prst="rect">
            <a:avLst/>
          </a:prstGeom>
          <a:noFill/>
        </p:spPr>
        <p:txBody>
          <a:bodyPr wrap="none" lIns="50800" rIns="50800" anchor="ctr">
            <a:spAutoFit/>
          </a:bodyPr>
          <a:lstStyle/>
          <a:p>
            <a:pPr algn="l"/>
            <a:r>
              <a:rPr sz="1900" b="1">
                <a:solidFill>
                  <a:srgbClr val="00A6A6"/>
                </a:solidFill>
                <a:latin typeface="Aptos"/>
                <a:hlinkClick r:id="rId3"/>
              </a:rPr>
              <a:t>preview@example.test</a:t>
            </a:r>
          </a:p>
        </p:txBody>
      </p:sp>
      <p:sp>
        <p:nvSpPr>
          <p:cNvPr id="8" name="Action Button: Back or Previous 7">
            <a:hlinkClick action="ppaction://hlinksldjump" r:id="rId4"/>
          </p:cNvPr>
          <p:cNvSpPr/>
          <p:nvPr/>
        </p:nvSpPr>
        <p:spPr>
          <a:xfrm>
            <a:off x="8046720" y="2743200"/>
            <a:ext cx="1097280" cy="1097280"/>
          </a:xfrm>
          <a:prstGeom prst="actionButtonBackPrevious">
            <a:avLst/>
          </a:prstGeom>
          <a:solidFill>
            <a:srgbClr val="F2B13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4023360"/>
            <a:ext cx="2926080" cy="457200"/>
          </a:xfrm>
          <a:prstGeom prst="rect">
            <a:avLst/>
          </a:prstGeom>
          <a:noFill/>
        </p:spPr>
        <p:txBody>
          <a:bodyPr wrap="none" lIns="50800" rIns="50800" anchor="ctr">
            <a:spAutoFit/>
          </a:bodyPr>
          <a:lstStyle/>
          <a:p>
            <a:pPr algn="ctr"/>
            <a:r>
              <a:rPr sz="1500" b="1">
                <a:solidFill>
                  <a:srgbClr val="12304A"/>
                </a:solidFill>
                <a:latin typeface="Aptos"/>
              </a:rPr>
              <a:t>Internal link → slide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65392"/>
            <a:ext cx="6400800" cy="201168"/>
          </a:xfrm>
          <a:prstGeom prst="rect">
            <a:avLst/>
          </a:prstGeom>
          <a:noFill/>
        </p:spPr>
        <p:txBody>
          <a:bodyPr wrap="none" lIns="50800" rIns="50800" anchor="ctr">
            <a:spAutoFit/>
          </a:bodyPr>
          <a:lstStyle/>
          <a:p>
            <a:pPr algn="l"/>
            <a:r>
              <a:rPr sz="800" b="0">
                <a:solidFill>
                  <a:srgbClr val="607785"/>
                </a:solidFill>
                <a:latin typeface="Aptos"/>
              </a:rPr>
              <a:t>ONLYOFFICE · deterministic preview corpus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528816"/>
            <a:ext cx="457200" cy="228600"/>
          </a:xfrm>
          <a:prstGeom prst="rect">
            <a:avLst/>
          </a:prstGeom>
          <a:noFill/>
        </p:spPr>
        <p:txBody>
          <a:bodyPr wrap="none" lIns="50800" rIns="50800" anchor="ctr">
            <a:spAutoFit/>
          </a:bodyPr>
          <a:lstStyle/>
          <a:p>
            <a:pPr algn="r"/>
            <a:r>
              <a:rPr sz="900" b="1">
                <a:solidFill>
                  <a:srgbClr val="607785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  <p:transition spd="med">
    <p:split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881360" cy="502920"/>
          </a:xfrm>
          <a:prstGeom prst="rect">
            <a:avLst/>
          </a:prstGeom>
          <a:noFill/>
        </p:spPr>
        <p:txBody>
          <a:bodyPr wrap="none" lIns="50800" rIns="50800" anchor="ctr">
            <a:spAutoFit/>
          </a:bodyPr>
          <a:lstStyle/>
          <a:p>
            <a:pPr algn="l"/>
            <a:r>
              <a:rPr sz="2500" b="1">
                <a:solidFill>
                  <a:srgbClr val="12304A"/>
                </a:solidFill>
                <a:latin typeface="Aptos"/>
              </a:rPr>
              <a:t>Notes, placeholders and motion metadata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49808"/>
            <a:ext cx="10698480" cy="274320"/>
          </a:xfrm>
          <a:prstGeom prst="rect">
            <a:avLst/>
          </a:prstGeom>
          <a:noFill/>
        </p:spPr>
        <p:txBody>
          <a:bodyPr wrap="none" lIns="50800" rIns="50800" anchor="ctr">
            <a:spAutoFit/>
          </a:bodyPr>
          <a:lstStyle/>
          <a:p>
            <a:pPr algn="l"/>
            <a:r>
              <a:rPr sz="900" b="1">
                <a:solidFill>
                  <a:srgbClr val="E76F51"/>
                </a:solidFill>
                <a:latin typeface="Aptos"/>
              </a:rPr>
              <a:t>P11/P12 · speaker notes, footer/date/number markers, transition and timing tree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33271"/>
            <a:ext cx="10744200" cy="36576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645920"/>
            <a:ext cx="3840480" cy="2103120"/>
          </a:xfrm>
          <a:prstGeom prst="round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P12 ANIMATED OBJECT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1645920"/>
            <a:ext cx="4754880" cy="2194560"/>
          </a:xfrm>
          <a:prstGeom prst="rect">
            <a:avLst/>
          </a:prstGeom>
          <a:noFill/>
        </p:spPr>
        <p:txBody>
          <a:bodyPr wrap="none" lIns="50800" rIns="50800" anchor="ctr">
            <a:spAutoFit/>
          </a:bodyPr>
          <a:lstStyle/>
          <a:p>
            <a:pPr algn="l"/>
            <a:r>
              <a:rPr sz="1900" b="0">
                <a:solidFill>
                  <a:srgbClr val="12304A"/>
                </a:solidFill>
                <a:latin typeface="Aptos"/>
              </a:rPr>
              <a:t>Transition: fade
Animation: entrance/fade
Notes: notesSlide XML
Footer/date/number: stable markers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6400800" cy="201168"/>
          </a:xfrm>
          <a:prstGeom prst="rect">
            <a:avLst/>
          </a:prstGeom>
          <a:noFill/>
        </p:spPr>
        <p:txBody>
          <a:bodyPr wrap="none" lIns="50800" rIns="50800" anchor="ctr">
            <a:spAutoFit/>
          </a:bodyPr>
          <a:lstStyle/>
          <a:p>
            <a:pPr algn="l"/>
            <a:r>
              <a:rPr sz="800" b="0">
                <a:solidFill>
                  <a:srgbClr val="607785"/>
                </a:solidFill>
                <a:latin typeface="Aptos"/>
              </a:rPr>
              <a:t>ONLYOFFICE · deterministic preview corpus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28816"/>
            <a:ext cx="457200" cy="228600"/>
          </a:xfrm>
          <a:prstGeom prst="rect">
            <a:avLst/>
          </a:prstGeom>
          <a:noFill/>
        </p:spPr>
        <p:txBody>
          <a:bodyPr wrap="none" lIns="50800" rIns="50800" anchor="ctr">
            <a:spAutoFit/>
          </a:bodyPr>
          <a:lstStyle/>
          <a:p>
            <a:pPr algn="r"/>
            <a:r>
              <a:rPr sz="900" b="1">
                <a:solidFill>
                  <a:srgbClr val="607785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4" dur="700" fill="hold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881360" cy="502920"/>
          </a:xfrm>
          <a:prstGeom prst="rect">
            <a:avLst/>
          </a:prstGeom>
          <a:noFill/>
        </p:spPr>
        <p:txBody>
          <a:bodyPr wrap="none" lIns="50800" rIns="50800" anchor="ctr">
            <a:spAutoFit/>
          </a:bodyPr>
          <a:lstStyle/>
          <a:p>
            <a:pPr algn="l"/>
            <a:r>
              <a:rPr sz="2500" b="1">
                <a:solidFill>
                  <a:srgbClr val="12304A"/>
                </a:solidFill>
                <a:latin typeface="Aptos"/>
              </a:rPr>
              <a:t>Diagram and group-object preview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49808"/>
            <a:ext cx="10698480" cy="274320"/>
          </a:xfrm>
          <a:prstGeom prst="rect">
            <a:avLst/>
          </a:prstGeom>
          <a:noFill/>
        </p:spPr>
        <p:txBody>
          <a:bodyPr wrap="none" lIns="50800" rIns="50800" anchor="ctr">
            <a:spAutoFit/>
          </a:bodyPr>
          <a:lstStyle/>
          <a:p>
            <a:pPr algn="l"/>
            <a:r>
              <a:rPr sz="900" b="1">
                <a:solidFill>
                  <a:srgbClr val="E76F51"/>
                </a:solidFill>
                <a:latin typeface="Aptos"/>
              </a:rPr>
              <a:t>P13 · grouped process diagram retained as editable vector shapes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33271"/>
            <a:ext cx="10744200" cy="36576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5" name="P13 grouped diagram"/>
          <p:cNvGrpSpPr/>
          <p:nvPr/>
        </p:nvGrpSpPr>
        <p:grpSpPr>
          <a:xfrm>
            <a:off x="914400" y="1920240"/>
            <a:ext cx="10332720" cy="2011680"/>
            <a:chOff x="0" y="0"/>
            <a:chExt cx="8458200" cy="1417320"/>
          </a:xfrm>
        </p:grpSpPr>
        <p:sp>
          <p:nvSpPr>
            <p:cNvPr id="6" name="Chevron 5"/>
            <p:cNvSpPr/>
            <p:nvPr/>
          </p:nvSpPr>
          <p:spPr>
            <a:xfrm>
              <a:off x="0" y="0"/>
              <a:ext cx="2286000" cy="1417320"/>
            </a:xfrm>
            <a:prstGeom prst="chevron">
              <a:avLst/>
            </a:prstGeom>
            <a:solidFill>
              <a:srgbClr val="2F75B5"/>
            </a:solidFill>
            <a:ln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700" b="1">
                  <a:solidFill>
                    <a:srgbClr val="FFFFFF"/>
                  </a:solidFill>
                </a:defRPr>
              </a:pPr>
              <a:r>
                <a:t>LOAD</a:t>
              </a:r>
            </a:p>
          </p:txBody>
        </p:sp>
        <p:sp>
          <p:nvSpPr>
            <p:cNvPr id="7" name="Chevron 6"/>
            <p:cNvSpPr/>
            <p:nvPr/>
          </p:nvSpPr>
          <p:spPr>
            <a:xfrm>
              <a:off x="2057400" y="0"/>
              <a:ext cx="2286000" cy="1417320"/>
            </a:xfrm>
            <a:prstGeom prst="chevron">
              <a:avLst/>
            </a:prstGeom>
            <a:solidFill>
              <a:srgbClr val="00A6A6"/>
            </a:solidFill>
            <a:ln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700" b="1">
                  <a:solidFill>
                    <a:srgbClr val="FFFFFF"/>
                  </a:solidFill>
                </a:defRPr>
              </a:pPr>
              <a:r>
                <a:t>X2T</a:t>
              </a:r>
            </a:p>
          </p:txBody>
        </p:sp>
        <p:sp>
          <p:nvSpPr>
            <p:cNvPr id="8" name="Chevron 7"/>
            <p:cNvSpPr/>
            <p:nvPr/>
          </p:nvSpPr>
          <p:spPr>
            <a:xfrm>
              <a:off x="4114800" y="0"/>
              <a:ext cx="2286000" cy="1417320"/>
            </a:xfrm>
            <a:prstGeom prst="chevron">
              <a:avLst/>
            </a:prstGeom>
            <a:solidFill>
              <a:srgbClr val="F2B134"/>
            </a:solidFill>
            <a:ln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700" b="1">
                  <a:solidFill>
                    <a:srgbClr val="FFFFFF"/>
                  </a:solidFill>
                </a:defRPr>
              </a:pPr>
              <a:r>
                <a:t>VIEW</a:t>
              </a:r>
            </a:p>
          </p:txBody>
        </p:sp>
        <p:sp>
          <p:nvSpPr>
            <p:cNvPr id="9" name="Chevron 8"/>
            <p:cNvSpPr/>
            <p:nvPr/>
          </p:nvSpPr>
          <p:spPr>
            <a:xfrm>
              <a:off x="6172200" y="0"/>
              <a:ext cx="2286000" cy="1417320"/>
            </a:xfrm>
            <a:prstGeom prst="chevron">
              <a:avLst/>
            </a:prstGeom>
            <a:solidFill>
              <a:srgbClr val="E76F51"/>
            </a:solidFill>
            <a:ln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700" b="1">
                  <a:solidFill>
                    <a:srgbClr val="FFFFFF"/>
                  </a:solidFill>
                </a:defRPr>
              </a:pPr>
              <a:r>
                <a:t>TEST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1097280" y="4663440"/>
            <a:ext cx="9966960" cy="731520"/>
          </a:xfrm>
          <a:prstGeom prst="rect">
            <a:avLst/>
          </a:prstGeom>
          <a:noFill/>
        </p:spPr>
        <p:txBody>
          <a:bodyPr wrap="none" lIns="50800" rIns="50800" anchor="ctr">
            <a:spAutoFit/>
          </a:bodyPr>
          <a:lstStyle/>
          <a:p>
            <a:pPr algn="ctr"/>
            <a:r>
              <a:rPr sz="1800" b="1">
                <a:solidFill>
                  <a:srgbClr val="12304A"/>
                </a:solidFill>
                <a:latin typeface="Aptos"/>
              </a:rPr>
              <a:t>P13 browser acceptance inspects the group and child drawing objects, not screenshot pixels.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65392"/>
            <a:ext cx="6400800" cy="201168"/>
          </a:xfrm>
          <a:prstGeom prst="rect">
            <a:avLst/>
          </a:prstGeom>
          <a:noFill/>
        </p:spPr>
        <p:txBody>
          <a:bodyPr wrap="none" lIns="50800" rIns="50800" anchor="ctr">
            <a:spAutoFit/>
          </a:bodyPr>
          <a:lstStyle/>
          <a:p>
            <a:pPr algn="l"/>
            <a:r>
              <a:rPr sz="800" b="0">
                <a:solidFill>
                  <a:srgbClr val="607785"/>
                </a:solidFill>
                <a:latin typeface="Aptos"/>
              </a:rPr>
              <a:t>ONLYOFFICE · deterministic preview corpus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528816"/>
            <a:ext cx="457200" cy="228600"/>
          </a:xfrm>
          <a:prstGeom prst="rect">
            <a:avLst/>
          </a:prstGeom>
          <a:noFill/>
        </p:spPr>
        <p:txBody>
          <a:bodyPr wrap="none" lIns="50800" rIns="50800" anchor="ctr">
            <a:spAutoFit/>
          </a:bodyPr>
          <a:lstStyle/>
          <a:p>
            <a:pPr algn="r"/>
            <a:r>
              <a:rPr sz="900" b="1">
                <a:solidFill>
                  <a:srgbClr val="607785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  <p:transition spd="med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ONLYOFFICE Presentation Preview Showcase</dc:title>
  <dc:subject>Deterministic presentation rendering and document-model fixture</dc:subject>
  <dc:creator>Nexolyra</dc:creator>
  <cp:keywords>ONLYOFFICE, PPTX, preview, chart, transition, animation</cp:keywords>
  <dc:description>Generated by scripts/generate-office-presentation-showcase.py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